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0" y="2011680"/>
            <a:ext cx="2743200" cy="365760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 w="19050">
            <a:solidFill>
              <a:srgbClr val="12D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DAA8"/>
                </a:solidFill>
                <a:latin typeface="Calibri"/>
              </a:defRPr>
            </a:pPr>
            <a:r>
              <a:t>OFFLINE RETAIL FINANCING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Loan MarketPlace</a:t>
            </a:r>
            <a:br/>
            <a:r>
              <a:t>for the Physical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Calibri"/>
              </a:defRPr>
            </a:pPr>
            <a:r>
              <a:t>Eliminating the 30-minute wait for in-store financing with a self-service,</a:t>
            </a:r>
            <a:br/>
            <a:r>
              <a:t>AI-driven checkout that lives on the customer’s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669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DAA8"/>
                </a:solidFill>
                <a:latin typeface="Calibri"/>
              </a:defRPr>
            </a:pPr>
            <a:r>
              <a:t>Juspay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DAA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Current Offline Journey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In stores like Croma or Reliance Digital, financing a product is slow, manual, and frustrating.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Product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Customer finds the product. Excitement is high — but the financing journey is about to begin.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201168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Hunt for an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060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To explore EMI options, must locate a bank rep or store associate. Often busy with other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70916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2D131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709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15–20 min wait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0116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201168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Desk 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060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Asked to move to a dedicated desk. The entire purchase journey pauses while the loan conversation begins.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0116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201168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Document Hassle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6060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PAN Card, Aadhaar, bank details, cancelled cheque — each manually verified, photocopied, or photographed.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0116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201168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Manual Data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6060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Agent manually enters information. Customer waits while details are checked and credit approval is processed.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470916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2D131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709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20–30 min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A1010"/>
          </a:solidFill>
          <a:ln w="19050">
            <a:solidFill>
              <a:srgbClr val="3D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The Result: Excitement → Friction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943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•  Agent availability dependency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943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•  Manual documentation overhead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943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•  Slow data entry by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943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•  Multiple verification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DAA8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Challenge, Opportunity &amp; 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Eliminate the friction of offline financing. Our competitors aren’t just other apps — they are the physical bank representatives in-store.</a:t>
            </a:r>
            <a:br/>
            <a:br/>
            <a:r>
              <a:t>We need to match that “human” ease of use with a digital-first, self-service experience that feels just as supportive.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4747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Juspay has already mastered financing for e-commerce, insurance, and online education.</a:t>
            </a:r>
            <a:br/>
            <a:br/>
            <a:r>
              <a:t>Offline Retail is a massive untapped market. We can take the “waiting” out of shopping, letting users secure financing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6459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598" y="1645920"/>
            <a:ext cx="3474720" cy="508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Our 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56032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Create a Loan MarketPlace journey that is so frictionless it feels invisible.</a:t>
            </a:r>
            <a:br/>
            <a:br/>
            <a:r>
              <a:t>Empower the customer to handle their own financing from start to finish — without needing to find a bank 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DAA8"/>
                </a:solidFill>
                <a:latin typeface="Calibri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 AI-Driven Interface for the Physical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A smart experience on the user’s smartphone that interacts with the physical retail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Product-Based QR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514600"/>
            <a:ext cx="548640" cy="254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Every shelf item has a unique QR code. Scanning instantly pulls up product specs and financing eligibility.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2514600"/>
            <a:ext cx="548640" cy="254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Based on what the user scans, AI suggests similar products or better deals using semantic similarity.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9202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8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Multimodal Chatbot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198" y="2514600"/>
            <a:ext cx="548640" cy="254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198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Built-in assistant with typing and voice support for questions about rates, terms, and comparisons.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Onboarding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800600"/>
            <a:ext cx="548640" cy="254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Streamlined KYC, mandate setup, and automated document verification — no paper, no photocopies.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2062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4434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Seamless Checkout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4800600"/>
            <a:ext cx="548640" cy="254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937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Initiated by user or sales agent. Guides through identity verification, mandate setup, and agreement signing.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42062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198" y="4434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Instant Financing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198" y="4800600"/>
            <a:ext cx="548640" cy="254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8" y="4937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Checks multiple lenders, lets customer pick an offer, sets up auto-pay via UPI, eNACH, or Debit Card.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DAA8"/>
                </a:solidFill>
                <a:latin typeface="Calibri"/>
              </a:defRPr>
            </a:pPr>
            <a: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Checkout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2024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2057400"/>
            <a:ext cx="502920" cy="502920"/>
          </a:xfrm>
          <a:prstGeom prst="ellipse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A0A14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Checkout</a:t>
            </a:r>
            <a:br/>
            <a:r>
              <a:t>Initiation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Initiated by user or</a:t>
            </a:r>
            <a:br/>
            <a:r>
              <a:t>sales agent via the</a:t>
            </a:r>
            <a:br/>
            <a:r>
              <a:t>merchant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192024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057400"/>
            <a:ext cx="502920" cy="502920"/>
          </a:xfrm>
          <a:prstGeom prst="ellipse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A0A14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43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KYC</a:t>
            </a:r>
            <a:br/>
            <a:r>
              <a:t>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Multiple methods based</a:t>
            </a:r>
            <a:br/>
            <a:r>
              <a:t>on lender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75488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4754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Aadhaar XML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507492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5074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Aadhaar OTP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539496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5394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Live Selfie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828800"/>
            <a:ext cx="192024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97880" y="2057400"/>
            <a:ext cx="502920" cy="502920"/>
          </a:xfrm>
          <a:prstGeom prst="ellipse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A0A14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743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Mandate</a:t>
            </a:r>
            <a:br/>
            <a:r>
              <a:t>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Repayment mandate for</a:t>
            </a:r>
            <a:br/>
            <a:r>
              <a:t>automated EMI collection.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475488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754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UPI Autopay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507492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5074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eNACH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1828800"/>
            <a:ext cx="192024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2057400"/>
            <a:ext cx="502920" cy="502920"/>
          </a:xfrm>
          <a:prstGeom prst="ellipse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A0A14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743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KFS &amp; Agreement</a:t>
            </a:r>
            <a:br/>
            <a:r>
              <a:t>Signing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Key Fact Statement and</a:t>
            </a:r>
            <a:br/>
            <a:r>
              <a:t>loan agreement presented.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75488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754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Clickwrap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5074920"/>
            <a:ext cx="1554480" cy="256032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5074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OTP Signing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1828800"/>
            <a:ext cx="192024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78440" y="2057400"/>
            <a:ext cx="502920" cy="502920"/>
          </a:xfrm>
          <a:prstGeom prst="ellipse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A0A14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743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Disbursement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Loan proceeds to final</a:t>
            </a:r>
            <a:br/>
            <a:r>
              <a:t>processing. Lender</a:t>
            </a:r>
            <a:br/>
            <a:r>
              <a:t>initiates disbursement.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DAA8"/>
                </a:solidFill>
                <a:latin typeface="Calibri"/>
              </a:defRPr>
            </a:pPr>
            <a:r>
              <a:t>WHO IT’S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Designed to be accessible across the entire technical spectrum.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08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Tech-Savvy Buyer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880360"/>
            <a:ext cx="1645920" cy="274320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POWER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Enjoys the speed, the data-rich UI, and the ability to bypass human interaction entirely.</a:t>
            </a:r>
            <a:br/>
            <a:br/>
            <a:r>
              <a:t>•  Compare offers side-by-side</a:t>
            </a:r>
            <a:br/>
            <a:r>
              <a:t>•  View detailed product specs</a:t>
            </a:r>
            <a:br/>
            <a:r>
              <a:t>•  Complete checkout autonomously</a:t>
            </a:r>
            <a:br/>
            <a:r>
              <a:t>•  Self-service from start to finish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5303520" cy="508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Non-Tech Buyer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880360"/>
            <a:ext cx="1645920" cy="274320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DAA8"/>
                </a:solidFill>
                <a:latin typeface="Calibri"/>
              </a:defRPr>
            </a:pPr>
            <a:r>
              <a:t>GUIDED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Benefits from voice chat and AI guidance that acts like a “digital store assistant.”</a:t>
            </a:r>
            <a:br/>
            <a:br/>
            <a:r>
              <a:t>•  No app downloads needed</a:t>
            </a:r>
            <a:br/>
            <a:r>
              <a:t>•  Voice-first interaction</a:t>
            </a:r>
            <a:br/>
            <a:r>
              <a:t>•  Step-by-step guidance</a:t>
            </a:r>
            <a:br/>
            <a:r>
              <a:t>•  Familiar and simple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DAA8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Juspay Generates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Revenue built on transaction success and the value we provide to lenders and retailers.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508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Transaction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A small fee for every successful loan processed through our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3108960" cy="548640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74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2DAA8"/>
                </a:solidFill>
                <a:latin typeface="Calibri"/>
              </a:defRPr>
            </a:pPr>
            <a:r>
              <a:t>Per-transaction revenue that scales with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4747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Lender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Banks and NBFCs pay to integrate their financing products into our high-speed journey.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39" y="5029200"/>
            <a:ext cx="3108960" cy="548640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599" y="5074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2DAA8"/>
                </a:solidFill>
                <a:latin typeface="Calibri"/>
              </a:defRPr>
            </a:pPr>
            <a:r>
              <a:t>Recurring integration and maintenance fees.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201168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201168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Technology Licensing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Retailers pay for the platform’s ability to increase conversion rates.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78" y="5029200"/>
            <a:ext cx="3108960" cy="548640"/>
          </a:xfrm>
          <a:prstGeom prst="roundRect">
            <a:avLst>
              <a:gd name="adj" fmla="val 5000"/>
            </a:avLst>
          </a:prstGeom>
          <a:solidFill>
            <a:srgbClr val="0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38" y="5074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2DAA8"/>
                </a:solidFill>
                <a:latin typeface="Calibri"/>
              </a:defRPr>
            </a:pPr>
            <a:r>
              <a:t>Turns window shoppers into buyers through instant credit.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2D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Making Offline Financing</a:t>
            </a:r>
            <a:br/>
            <a:r>
              <a:t>Feel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Calibri"/>
              </a:defRPr>
            </a:pPr>
            <a:r>
              <a:t>From 30-minute waits to instant, self-service checkout.</a:t>
            </a:r>
            <a:br/>
            <a:r>
              <a:t>Powered by QR, AI, and seamless lending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DAA8"/>
                </a:solidFill>
                <a:latin typeface="Calibri"/>
              </a:defRPr>
            </a:pPr>
            <a:r>
              <a:t>Juspay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486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77"/>
                </a:solidFill>
                <a:latin typeface="Calibri"/>
              </a:defRPr>
            </a:pPr>
            <a:r>
              <a:t>Powering frictionless financing for the next billion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